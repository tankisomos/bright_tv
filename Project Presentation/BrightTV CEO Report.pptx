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6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5F1E8"/>
                </a:solidFill>
                <a:latin typeface="Georgia"/>
              </a:defRPr>
            </a:pPr>
            <a:r>
              <a:rPr lang="en-ZA" sz="1400" b="0" i="0" u="none" strike="noStrike">
                <a:solidFill>
                  <a:srgbClr val="F5F1E8"/>
                </a:solidFill>
                <a:latin typeface="Georgia"/>
              </a:rPr>
              <a:t>Streams by Age Group &amp; Gender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&lt;18</c:v>
                </c:pt>
                <c:pt idx="1">
                  <c:v>18–24</c:v>
                </c:pt>
                <c:pt idx="2">
                  <c:v>25–34</c:v>
                </c:pt>
                <c:pt idx="3">
                  <c:v>35–44</c:v>
                </c:pt>
                <c:pt idx="4">
                  <c:v>45–54</c:v>
                </c:pt>
                <c:pt idx="5">
                  <c:v>55+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320</c:v>
                </c:pt>
                <c:pt idx="1">
                  <c:v>980</c:v>
                </c:pt>
                <c:pt idx="2">
                  <c:v>1680</c:v>
                </c:pt>
                <c:pt idx="3">
                  <c:v>1240</c:v>
                </c:pt>
                <c:pt idx="4">
                  <c:v>720</c:v>
                </c:pt>
                <c:pt idx="5">
                  <c:v>410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9A-465B-A2B5-4F9453D3AB1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2BB3D9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&lt;18</c:v>
                </c:pt>
                <c:pt idx="1">
                  <c:v>18–24</c:v>
                </c:pt>
                <c:pt idx="2">
                  <c:v>25–34</c:v>
                </c:pt>
                <c:pt idx="3">
                  <c:v>35–44</c:v>
                </c:pt>
                <c:pt idx="4">
                  <c:v>45–54</c:v>
                </c:pt>
                <c:pt idx="5">
                  <c:v>55+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410</c:v>
                </c:pt>
                <c:pt idx="1">
                  <c:v>1120</c:v>
                </c:pt>
                <c:pt idx="2">
                  <c:v>1840</c:v>
                </c:pt>
                <c:pt idx="3">
                  <c:v>1390</c:v>
                </c:pt>
                <c:pt idx="4">
                  <c:v>860</c:v>
                </c:pt>
                <c:pt idx="5">
                  <c:v>520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89A-465B-A2B5-4F9453D3AB1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rgbClr val="9B7FD4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&lt;18</c:v>
                </c:pt>
                <c:pt idx="1">
                  <c:v>18–24</c:v>
                </c:pt>
                <c:pt idx="2">
                  <c:v>25–34</c:v>
                </c:pt>
                <c:pt idx="3">
                  <c:v>35–44</c:v>
                </c:pt>
                <c:pt idx="4">
                  <c:v>45–54</c:v>
                </c:pt>
                <c:pt idx="5">
                  <c:v>55+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60</c:v>
                </c:pt>
                <c:pt idx="1">
                  <c:v>140</c:v>
                </c:pt>
                <c:pt idx="2">
                  <c:v>180</c:v>
                </c:pt>
                <c:pt idx="3">
                  <c:v>110</c:v>
                </c:pt>
                <c:pt idx="4">
                  <c:v>70</c:v>
                </c:pt>
                <c:pt idx="5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89A-465B-A2B5-4F9453D3AB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5B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3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5B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730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9AA5B1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E2730"/>
    </a:solidFill>
    <a:ln w="6350" cap="flat">
      <a:solidFill>
        <a:srgbClr val="2A333D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5F1E8"/>
                </a:solidFill>
                <a:latin typeface="Georgia"/>
              </a:defRPr>
            </a:pPr>
            <a:r>
              <a:rPr lang="en-ZA" sz="1400" b="0" i="0" u="none" strike="noStrike">
                <a:solidFill>
                  <a:srgbClr val="F5F1E8"/>
                </a:solidFill>
                <a:latin typeface="Georgia"/>
              </a:rPr>
              <a:t>Streams by Race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Streams by Race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1D9-411E-90A1-86DAAA513F18}"/>
              </c:ext>
            </c:extLst>
          </c:dPt>
          <c:dPt>
            <c:idx val="1"/>
            <c:bubble3D val="0"/>
            <c:spPr>
              <a:solidFill>
                <a:srgbClr val="2BB3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1D9-411E-90A1-86DAAA513F18}"/>
              </c:ext>
            </c:extLst>
          </c:dPt>
          <c:dPt>
            <c:idx val="2"/>
            <c:bubble3D val="0"/>
            <c:spPr>
              <a:solidFill>
                <a:srgbClr val="E552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1D9-411E-90A1-86DAAA513F18}"/>
              </c:ext>
            </c:extLst>
          </c:dPt>
          <c:dPt>
            <c:idx val="3"/>
            <c:bubble3D val="0"/>
            <c:spPr>
              <a:solidFill>
                <a:srgbClr val="4AB87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1D9-411E-90A1-86DAAA513F18}"/>
              </c:ext>
            </c:extLst>
          </c:dPt>
          <c:dPt>
            <c:idx val="4"/>
            <c:bubble3D val="0"/>
            <c:spPr>
              <a:solidFill>
                <a:srgbClr val="9B7F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1D9-411E-90A1-86DAAA513F1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0F1419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1D9-411E-90A1-86DAAA513F1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0F1419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1D9-411E-90A1-86DAAA513F1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0F1419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1D9-411E-90A1-86DAAA513F18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0F1419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1D9-411E-90A1-86DAAA513F18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0F1419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C1D9-411E-90A1-86DAAA513F1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Black</c:v>
                </c:pt>
                <c:pt idx="1">
                  <c:v>White</c:v>
                </c:pt>
                <c:pt idx="2">
                  <c:v>Coloured</c:v>
                </c:pt>
                <c:pt idx="3">
                  <c:v>Indian</c:v>
                </c:pt>
                <c:pt idx="4">
                  <c:v>Unknown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10460</c:v>
                </c:pt>
                <c:pt idx="1">
                  <c:v>4035</c:v>
                </c:pt>
                <c:pt idx="2">
                  <c:v>2700</c:v>
                </c:pt>
                <c:pt idx="3">
                  <c:v>1795</c:v>
                </c:pt>
                <c:pt idx="4">
                  <c:v>770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1D9-411E-90A1-86DAAA513F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solidFill>
          <a:srgbClr val="1E2730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9AA5B1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E2730"/>
    </a:solidFill>
    <a:ln w="6350" cap="flat">
      <a:solidFill>
        <a:srgbClr val="2A333D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5F1E8"/>
                </a:solidFill>
                <a:latin typeface="Georgia"/>
              </a:defRPr>
            </a:pPr>
            <a:r>
              <a:rPr lang="en-ZA" sz="1400" b="0" i="0" u="none" strike="noStrike">
                <a:solidFill>
                  <a:srgbClr val="F5F1E8"/>
                </a:solidFill>
                <a:latin typeface="Georgia"/>
              </a:rPr>
              <a:t>Streams by Channel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Streams by Channel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7C2-4F43-BE35-F379C4AC892A}"/>
              </c:ext>
            </c:extLst>
          </c:dPt>
          <c:dPt>
            <c:idx val="1"/>
            <c:bubble3D val="0"/>
            <c:spPr>
              <a:solidFill>
                <a:srgbClr val="2BB3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7C2-4F43-BE35-F379C4AC892A}"/>
              </c:ext>
            </c:extLst>
          </c:dPt>
          <c:dPt>
            <c:idx val="2"/>
            <c:bubble3D val="0"/>
            <c:spPr>
              <a:solidFill>
                <a:srgbClr val="E552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7C2-4F43-BE35-F379C4AC892A}"/>
              </c:ext>
            </c:extLst>
          </c:dPt>
          <c:dPt>
            <c:idx val="3"/>
            <c:bubble3D val="0"/>
            <c:spPr>
              <a:solidFill>
                <a:srgbClr val="4AB87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7C2-4F43-BE35-F379C4AC892A}"/>
              </c:ext>
            </c:extLst>
          </c:dPt>
          <c:dPt>
            <c:idx val="4"/>
            <c:bubble3D val="0"/>
            <c:spPr>
              <a:solidFill>
                <a:srgbClr val="9B7F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7C2-4F43-BE35-F379C4AC892A}"/>
              </c:ext>
            </c:extLst>
          </c:dPt>
          <c:dPt>
            <c:idx val="5"/>
            <c:bubble3D val="0"/>
            <c:spPr>
              <a:solidFill>
                <a:srgbClr val="F074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7C2-4F43-BE35-F379C4AC892A}"/>
              </c:ext>
            </c:extLst>
          </c:dPt>
          <c:dPt>
            <c:idx val="6"/>
            <c:bubble3D val="0"/>
            <c:spPr>
              <a:solidFill>
                <a:srgbClr val="F5C8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27C2-4F43-BE35-F379C4AC892A}"/>
              </c:ext>
            </c:extLst>
          </c:dPt>
          <c:dPt>
            <c:idx val="7"/>
            <c:bubble3D val="0"/>
            <c:spPr>
              <a:solidFill>
                <a:srgbClr val="5B8FE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27C2-4F43-BE35-F379C4AC892A}"/>
              </c:ext>
            </c:extLst>
          </c:dPt>
          <c:dPt>
            <c:idx val="8"/>
            <c:bubble3D val="0"/>
            <c:spPr>
              <a:solidFill>
                <a:srgbClr val="5B8FE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27C2-4F43-BE35-F379C4AC892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0F1419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7C2-4F43-BE35-F379C4AC892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0F1419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7C2-4F43-BE35-F379C4AC892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0F1419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7C2-4F43-BE35-F379C4AC892A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0F1419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7C2-4F43-BE35-F379C4AC892A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0F1419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7C2-4F43-BE35-F379C4AC892A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0F1419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7C2-4F43-BE35-F379C4AC892A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0F1419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7C2-4F43-BE35-F379C4AC892A}"/>
                </c:ext>
              </c:extLst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0F1419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27C2-4F43-BE35-F379C4AC892A}"/>
                </c:ext>
              </c:extLst>
            </c:dLbl>
            <c:dLbl>
              <c:idx val="8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0F1419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27C2-4F43-BE35-F379C4AC892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Sheet1!$A$2:$A$10</c:f>
              <c:strCache>
                <c:ptCount val="9"/>
                <c:pt idx="0">
                  <c:v>Bright News</c:v>
                </c:pt>
                <c:pt idx="1">
                  <c:v>Bright Sports</c:v>
                </c:pt>
                <c:pt idx="2">
                  <c:v>Bright Movies</c:v>
                </c:pt>
                <c:pt idx="3">
                  <c:v>Bright Kids</c:v>
                </c:pt>
                <c:pt idx="4">
                  <c:v>Bright Music</c:v>
                </c:pt>
                <c:pt idx="5">
                  <c:v>Bright Drama</c:v>
                </c:pt>
                <c:pt idx="6">
                  <c:v>Bright Lifestyle</c:v>
                </c:pt>
                <c:pt idx="7">
                  <c:v>Bright Docs</c:v>
                </c:pt>
                <c:pt idx="8">
                  <c:v>Bright Comedy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2150</c:v>
                </c:pt>
                <c:pt idx="1">
                  <c:v>1820</c:v>
                </c:pt>
                <c:pt idx="2">
                  <c:v>1540</c:v>
                </c:pt>
                <c:pt idx="3">
                  <c:v>1180</c:v>
                </c:pt>
                <c:pt idx="4">
                  <c:v>980</c:v>
                </c:pt>
                <c:pt idx="5">
                  <c:v>820</c:v>
                </c:pt>
                <c:pt idx="6">
                  <c:v>690</c:v>
                </c:pt>
                <c:pt idx="7">
                  <c:v>540</c:v>
                </c:pt>
                <c:pt idx="8">
                  <c:v>280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27C2-4F43-BE35-F379C4AC89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solidFill>
          <a:srgbClr val="1E2730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9AA5B1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E2730"/>
    </a:solidFill>
    <a:ln w="6350" cap="flat">
      <a:solidFill>
        <a:srgbClr val="2A333D"/>
      </a:solidFill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5F1E8"/>
                </a:solidFill>
                <a:latin typeface="Georgia"/>
              </a:defRPr>
            </a:pPr>
            <a:r>
              <a:rPr lang="en-ZA" sz="1400" b="0" i="0" u="none" strike="noStrike">
                <a:solidFill>
                  <a:srgbClr val="F5F1E8"/>
                </a:solidFill>
                <a:latin typeface="Georgia"/>
              </a:rPr>
              <a:t>Channel × Time of Day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Morning</c:v>
                </c:pt>
              </c:strCache>
            </c:strRef>
          </c:tx>
          <c:spPr>
            <a:solidFill>
              <a:srgbClr val="F5C842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News</c:v>
                </c:pt>
                <c:pt idx="1">
                  <c:v>Sports</c:v>
                </c:pt>
                <c:pt idx="2">
                  <c:v>Movies</c:v>
                </c:pt>
                <c:pt idx="3">
                  <c:v>Kids</c:v>
                </c:pt>
                <c:pt idx="4">
                  <c:v>Music</c:v>
                </c:pt>
                <c:pt idx="5">
                  <c:v>Drama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520</c:v>
                </c:pt>
                <c:pt idx="1">
                  <c:v>280</c:v>
                </c:pt>
                <c:pt idx="2">
                  <c:v>180</c:v>
                </c:pt>
                <c:pt idx="3">
                  <c:v>460</c:v>
                </c:pt>
                <c:pt idx="4">
                  <c:v>240</c:v>
                </c:pt>
                <c:pt idx="5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72-421C-934F-F4B7AE571CA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Afternoon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News</c:v>
                </c:pt>
                <c:pt idx="1">
                  <c:v>Sports</c:v>
                </c:pt>
                <c:pt idx="2">
                  <c:v>Movies</c:v>
                </c:pt>
                <c:pt idx="3">
                  <c:v>Kids</c:v>
                </c:pt>
                <c:pt idx="4">
                  <c:v>Music</c:v>
                </c:pt>
                <c:pt idx="5">
                  <c:v>Drama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380</c:v>
                </c:pt>
                <c:pt idx="1">
                  <c:v>410</c:v>
                </c:pt>
                <c:pt idx="2">
                  <c:v>320</c:v>
                </c:pt>
                <c:pt idx="3">
                  <c:v>540</c:v>
                </c:pt>
                <c:pt idx="4">
                  <c:v>280</c:v>
                </c:pt>
                <c:pt idx="5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272-421C-934F-F4B7AE571CA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Evening</c:v>
                </c:pt>
              </c:strCache>
            </c:strRef>
          </c:tx>
          <c:spPr>
            <a:solidFill>
              <a:srgbClr val="E5527A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News</c:v>
                </c:pt>
                <c:pt idx="1">
                  <c:v>Sports</c:v>
                </c:pt>
                <c:pt idx="2">
                  <c:v>Movies</c:v>
                </c:pt>
                <c:pt idx="3">
                  <c:v>Kids</c:v>
                </c:pt>
                <c:pt idx="4">
                  <c:v>Music</c:v>
                </c:pt>
                <c:pt idx="5">
                  <c:v>Drama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820</c:v>
                </c:pt>
                <c:pt idx="1">
                  <c:v>760</c:v>
                </c:pt>
                <c:pt idx="2">
                  <c:v>690</c:v>
                </c:pt>
                <c:pt idx="3">
                  <c:v>140</c:v>
                </c:pt>
                <c:pt idx="4">
                  <c:v>320</c:v>
                </c:pt>
                <c:pt idx="5">
                  <c:v>410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272-421C-934F-F4B7AE571CA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Night</c:v>
                </c:pt>
              </c:strCache>
            </c:strRef>
          </c:tx>
          <c:spPr>
            <a:solidFill>
              <a:srgbClr val="9B7FD4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News</c:v>
                </c:pt>
                <c:pt idx="1">
                  <c:v>Sports</c:v>
                </c:pt>
                <c:pt idx="2">
                  <c:v>Movies</c:v>
                </c:pt>
                <c:pt idx="3">
                  <c:v>Kids</c:v>
                </c:pt>
                <c:pt idx="4">
                  <c:v>Music</c:v>
                </c:pt>
                <c:pt idx="5">
                  <c:v>Drama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430</c:v>
                </c:pt>
                <c:pt idx="1">
                  <c:v>370</c:v>
                </c:pt>
                <c:pt idx="2">
                  <c:v>350</c:v>
                </c:pt>
                <c:pt idx="3">
                  <c:v>40</c:v>
                </c:pt>
                <c:pt idx="4">
                  <c:v>140</c:v>
                </c:pt>
                <c:pt idx="5">
                  <c:v>140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272-421C-934F-F4B7AE571C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5B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3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5B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730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9AA5B1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E2730"/>
    </a:solidFill>
    <a:ln w="6350" cap="flat">
      <a:solidFill>
        <a:srgbClr val="2A333D"/>
      </a:solidFill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5F1E8"/>
                </a:solidFill>
                <a:latin typeface="Georgia"/>
              </a:defRPr>
            </a:pPr>
            <a:r>
              <a:rPr lang="en-ZA" sz="1400" b="0" i="0" u="none" strike="noStrike">
                <a:solidFill>
                  <a:srgbClr val="F5F1E8"/>
                </a:solidFill>
                <a:latin typeface="Georgia"/>
              </a:rPr>
              <a:t>Watch Duration by Day &amp; Race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Black</c:v>
                </c:pt>
              </c:strCache>
            </c:strRef>
          </c:tx>
          <c:spPr>
            <a:ln w="31750" cap="flat">
              <a:solidFill>
                <a:srgbClr val="F5A62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1240</c:v>
                </c:pt>
                <c:pt idx="1">
                  <c:v>1180</c:v>
                </c:pt>
                <c:pt idx="2">
                  <c:v>1290</c:v>
                </c:pt>
                <c:pt idx="3">
                  <c:v>1320</c:v>
                </c:pt>
                <c:pt idx="4">
                  <c:v>1610</c:v>
                </c:pt>
                <c:pt idx="5">
                  <c:v>1980</c:v>
                </c:pt>
                <c:pt idx="6">
                  <c:v>1840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B30-4FB5-AB3D-82E2899F71B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White</c:v>
                </c:pt>
              </c:strCache>
            </c:strRef>
          </c:tx>
          <c:spPr>
            <a:ln w="31750" cap="flat">
              <a:solidFill>
                <a:srgbClr val="2BB3D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BB3D9"/>
              </a:solidFill>
              <a:ln w="9525" cap="flat">
                <a:solidFill>
                  <a:srgbClr val="2BB3D9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480</c:v>
                </c:pt>
                <c:pt idx="1">
                  <c:v>460</c:v>
                </c:pt>
                <c:pt idx="2">
                  <c:v>495</c:v>
                </c:pt>
                <c:pt idx="3">
                  <c:v>510</c:v>
                </c:pt>
                <c:pt idx="4">
                  <c:v>620</c:v>
                </c:pt>
                <c:pt idx="5">
                  <c:v>760</c:v>
                </c:pt>
                <c:pt idx="6">
                  <c:v>710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B30-4FB5-AB3D-82E2899F71B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Coloured</c:v>
                </c:pt>
              </c:strCache>
            </c:strRef>
          </c:tx>
          <c:spPr>
            <a:ln w="31750" cap="flat">
              <a:solidFill>
                <a:srgbClr val="E5527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5527A"/>
              </a:solidFill>
              <a:ln w="9525" cap="flat">
                <a:solidFill>
                  <a:srgbClr val="E5527A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320</c:v>
                </c:pt>
                <c:pt idx="1">
                  <c:v>310</c:v>
                </c:pt>
                <c:pt idx="2">
                  <c:v>335</c:v>
                </c:pt>
                <c:pt idx="3">
                  <c:v>345</c:v>
                </c:pt>
                <c:pt idx="4">
                  <c:v>410</c:v>
                </c:pt>
                <c:pt idx="5">
                  <c:v>510</c:v>
                </c:pt>
                <c:pt idx="6">
                  <c:v>470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B30-4FB5-AB3D-82E2899F71B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Indian</c:v>
                </c:pt>
              </c:strCache>
            </c:strRef>
          </c:tx>
          <c:spPr>
            <a:ln w="31750" cap="flat">
              <a:solidFill>
                <a:srgbClr val="4AB87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AB870"/>
              </a:solidFill>
              <a:ln w="9525" cap="flat">
                <a:solidFill>
                  <a:srgbClr val="4AB870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210</c:v>
                </c:pt>
                <c:pt idx="1">
                  <c:v>205</c:v>
                </c:pt>
                <c:pt idx="2">
                  <c:v>220</c:v>
                </c:pt>
                <c:pt idx="3">
                  <c:v>225</c:v>
                </c:pt>
                <c:pt idx="4">
                  <c:v>280</c:v>
                </c:pt>
                <c:pt idx="5">
                  <c:v>340</c:v>
                </c:pt>
                <c:pt idx="6">
                  <c:v>315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B30-4FB5-AB3D-82E2899F71B8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31750" cap="flat">
              <a:solidFill>
                <a:srgbClr val="9B7FD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B7FD4"/>
              </a:solidFill>
              <a:ln w="9525" cap="flat">
                <a:solidFill>
                  <a:srgbClr val="9B7FD4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90</c:v>
                </c:pt>
                <c:pt idx="1">
                  <c:v>85</c:v>
                </c:pt>
                <c:pt idx="2">
                  <c:v>95</c:v>
                </c:pt>
                <c:pt idx="3">
                  <c:v>100</c:v>
                </c:pt>
                <c:pt idx="4">
                  <c:v>120</c:v>
                </c:pt>
                <c:pt idx="5">
                  <c:v>145</c:v>
                </c:pt>
                <c:pt idx="6">
                  <c:v>135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B30-4FB5-AB3D-82E2899F71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5B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3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5B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730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9AA5B1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E2730"/>
    </a:solidFill>
    <a:ln w="6350" cap="flat">
      <a:solidFill>
        <a:srgbClr val="2A333D"/>
      </a:solidFill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5F1E8"/>
                </a:solidFill>
                <a:latin typeface="Georgia"/>
              </a:defRPr>
            </a:pPr>
            <a:r>
              <a:rPr lang="en-ZA" sz="1400" b="0" i="0" u="none" strike="noStrike">
                <a:solidFill>
                  <a:srgbClr val="F5F1E8"/>
                </a:solidFill>
                <a:latin typeface="Georgia"/>
              </a:rPr>
              <a:t>Streams by Month &amp; Time Bucket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Morning</c:v>
                </c:pt>
              </c:strCache>
            </c:strRef>
          </c:tx>
          <c:spPr>
            <a:solidFill>
              <a:srgbClr val="F5C842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320</c:v>
                </c:pt>
                <c:pt idx="1">
                  <c:v>305</c:v>
                </c:pt>
                <c:pt idx="2">
                  <c:v>340</c:v>
                </c:pt>
                <c:pt idx="3">
                  <c:v>360</c:v>
                </c:pt>
                <c:pt idx="4">
                  <c:v>380</c:v>
                </c:pt>
                <c:pt idx="5">
                  <c:v>410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E4-4F41-8358-4902A1DF64E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Afternoon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410</c:v>
                </c:pt>
                <c:pt idx="1">
                  <c:v>395</c:v>
                </c:pt>
                <c:pt idx="2">
                  <c:v>425</c:v>
                </c:pt>
                <c:pt idx="3">
                  <c:v>445</c:v>
                </c:pt>
                <c:pt idx="4">
                  <c:v>470</c:v>
                </c:pt>
                <c:pt idx="5">
                  <c:v>510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DE4-4F41-8358-4902A1DF64E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Evening</c:v>
                </c:pt>
              </c:strCache>
            </c:strRef>
          </c:tx>
          <c:spPr>
            <a:solidFill>
              <a:srgbClr val="E5527A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680</c:v>
                </c:pt>
                <c:pt idx="1">
                  <c:v>660</c:v>
                </c:pt>
                <c:pt idx="2">
                  <c:v>720</c:v>
                </c:pt>
                <c:pt idx="3">
                  <c:v>760</c:v>
                </c:pt>
                <c:pt idx="4">
                  <c:v>810</c:v>
                </c:pt>
                <c:pt idx="5">
                  <c:v>880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DE4-4F41-8358-4902A1DF64E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Night</c:v>
                </c:pt>
              </c:strCache>
            </c:strRef>
          </c:tx>
          <c:spPr>
            <a:solidFill>
              <a:srgbClr val="9B7FD4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290</c:v>
                </c:pt>
                <c:pt idx="1">
                  <c:v>280</c:v>
                </c:pt>
                <c:pt idx="2">
                  <c:v>310</c:v>
                </c:pt>
                <c:pt idx="3">
                  <c:v>330</c:v>
                </c:pt>
                <c:pt idx="4">
                  <c:v>355</c:v>
                </c:pt>
                <c:pt idx="5">
                  <c:v>390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DE4-4F41-8358-4902A1DF64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5B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3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5B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730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9AA5B1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E2730"/>
    </a:solidFill>
    <a:ln w="6350" cap="flat">
      <a:solidFill>
        <a:srgbClr val="2A333D"/>
      </a:solidFill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5F1E8"/>
                </a:solidFill>
                <a:latin typeface="Georgia"/>
              </a:defRPr>
            </a:pPr>
            <a:r>
              <a:rPr lang="en-ZA" sz="1400" b="0" i="0" u="none" strike="noStrike">
                <a:solidFill>
                  <a:srgbClr val="F5F1E8"/>
                </a:solidFill>
                <a:latin typeface="Georgia"/>
              </a:rPr>
              <a:t>Streams by Province &amp; Gender</a:t>
            </a:r>
          </a:p>
        </c:rich>
      </c:tx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Gauteng</c:v>
                </c:pt>
                <c:pt idx="1">
                  <c:v>Western Cape</c:v>
                </c:pt>
                <c:pt idx="2">
                  <c:v>KwaZulu-Natal</c:v>
                </c:pt>
                <c:pt idx="3">
                  <c:v>Eastern Cape</c:v>
                </c:pt>
                <c:pt idx="4">
                  <c:v>Free State</c:v>
                </c:pt>
                <c:pt idx="5">
                  <c:v>Limpopo</c:v>
                </c:pt>
                <c:pt idx="6">
                  <c:v>Mpumalanga</c:v>
                </c:pt>
                <c:pt idx="7">
                  <c:v>North West</c:v>
                </c:pt>
                <c:pt idx="8">
                  <c:v>Northern Cape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1820</c:v>
                </c:pt>
                <c:pt idx="1">
                  <c:v>980</c:v>
                </c:pt>
                <c:pt idx="2">
                  <c:v>1140</c:v>
                </c:pt>
                <c:pt idx="3">
                  <c:v>540</c:v>
                </c:pt>
                <c:pt idx="4">
                  <c:v>320</c:v>
                </c:pt>
                <c:pt idx="5">
                  <c:v>410</c:v>
                </c:pt>
                <c:pt idx="6">
                  <c:v>380</c:v>
                </c:pt>
                <c:pt idx="7">
                  <c:v>290</c:v>
                </c:pt>
                <c:pt idx="8">
                  <c:v>140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DE-4B22-A252-FF7A9FD7F42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2BB3D9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Gauteng</c:v>
                </c:pt>
                <c:pt idx="1">
                  <c:v>Western Cape</c:v>
                </c:pt>
                <c:pt idx="2">
                  <c:v>KwaZulu-Natal</c:v>
                </c:pt>
                <c:pt idx="3">
                  <c:v>Eastern Cape</c:v>
                </c:pt>
                <c:pt idx="4">
                  <c:v>Free State</c:v>
                </c:pt>
                <c:pt idx="5">
                  <c:v>Limpopo</c:v>
                </c:pt>
                <c:pt idx="6">
                  <c:v>Mpumalanga</c:v>
                </c:pt>
                <c:pt idx="7">
                  <c:v>North West</c:v>
                </c:pt>
                <c:pt idx="8">
                  <c:v>Northern Cape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2010</c:v>
                </c:pt>
                <c:pt idx="1">
                  <c:v>1080</c:v>
                </c:pt>
                <c:pt idx="2">
                  <c:v>1240</c:v>
                </c:pt>
                <c:pt idx="3">
                  <c:v>610</c:v>
                </c:pt>
                <c:pt idx="4">
                  <c:v>360</c:v>
                </c:pt>
                <c:pt idx="5">
                  <c:v>470</c:v>
                </c:pt>
                <c:pt idx="6">
                  <c:v>430</c:v>
                </c:pt>
                <c:pt idx="7">
                  <c:v>330</c:v>
                </c:pt>
                <c:pt idx="8">
                  <c:v>170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2DE-4B22-A252-FF7A9FD7F4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5B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33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5B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730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9AA5B1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E2730"/>
    </a:solidFill>
    <a:ln w="6350" cap="flat">
      <a:solidFill>
        <a:srgbClr val="2A333D"/>
      </a:solidFill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5F1E8"/>
                </a:solidFill>
                <a:latin typeface="Georgia"/>
              </a:defRPr>
            </a:pPr>
            <a:r>
              <a:rPr lang="en-ZA" sz="1400" b="0" i="0" u="none" strike="noStrike">
                <a:solidFill>
                  <a:srgbClr val="F5F1E8"/>
                </a:solidFill>
                <a:latin typeface="Georgia"/>
              </a:rPr>
              <a:t>Watch Duration (min) by Race × Province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Black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Gauteng</c:v>
                </c:pt>
                <c:pt idx="1">
                  <c:v>W.Cape</c:v>
                </c:pt>
                <c:pt idx="2">
                  <c:v>KZN</c:v>
                </c:pt>
                <c:pt idx="3">
                  <c:v>E.Cape</c:v>
                </c:pt>
                <c:pt idx="4">
                  <c:v>Free St.</c:v>
                </c:pt>
                <c:pt idx="5">
                  <c:v>Limpopo</c:v>
                </c:pt>
                <c:pt idx="6">
                  <c:v>Mpumal.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320</c:v>
                </c:pt>
                <c:pt idx="1">
                  <c:v>140</c:v>
                </c:pt>
                <c:pt idx="2">
                  <c:v>240</c:v>
                </c:pt>
                <c:pt idx="3">
                  <c:v>180</c:v>
                </c:pt>
                <c:pt idx="4">
                  <c:v>130</c:v>
                </c:pt>
                <c:pt idx="5">
                  <c:v>210</c:v>
                </c:pt>
                <c:pt idx="6">
                  <c:v>175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03-43AA-BA28-DF6B73F368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White</c:v>
                </c:pt>
              </c:strCache>
            </c:strRef>
          </c:tx>
          <c:spPr>
            <a:solidFill>
              <a:srgbClr val="2BB3D9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Gauteng</c:v>
                </c:pt>
                <c:pt idx="1">
                  <c:v>W.Cape</c:v>
                </c:pt>
                <c:pt idx="2">
                  <c:v>KZN</c:v>
                </c:pt>
                <c:pt idx="3">
                  <c:v>E.Cape</c:v>
                </c:pt>
                <c:pt idx="4">
                  <c:v>Free St.</c:v>
                </c:pt>
                <c:pt idx="5">
                  <c:v>Limpopo</c:v>
                </c:pt>
                <c:pt idx="6">
                  <c:v>Mpumal.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180</c:v>
                </c:pt>
                <c:pt idx="1">
                  <c:v>210</c:v>
                </c:pt>
                <c:pt idx="2">
                  <c:v>95</c:v>
                </c:pt>
                <c:pt idx="3">
                  <c:v>70</c:v>
                </c:pt>
                <c:pt idx="4">
                  <c:v>55</c:v>
                </c:pt>
                <c:pt idx="5">
                  <c:v>25</c:v>
                </c:pt>
                <c:pt idx="6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C03-43AA-BA28-DF6B73F368D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Coloured</c:v>
                </c:pt>
              </c:strCache>
            </c:strRef>
          </c:tx>
          <c:spPr>
            <a:solidFill>
              <a:srgbClr val="E5527A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Gauteng</c:v>
                </c:pt>
                <c:pt idx="1">
                  <c:v>W.Cape</c:v>
                </c:pt>
                <c:pt idx="2">
                  <c:v>KZN</c:v>
                </c:pt>
                <c:pt idx="3">
                  <c:v>E.Cape</c:v>
                </c:pt>
                <c:pt idx="4">
                  <c:v>Free St.</c:v>
                </c:pt>
                <c:pt idx="5">
                  <c:v>Limpopo</c:v>
                </c:pt>
                <c:pt idx="6">
                  <c:v>Mpumal.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95</c:v>
                </c:pt>
                <c:pt idx="1">
                  <c:v>220</c:v>
                </c:pt>
                <c:pt idx="2">
                  <c:v>70</c:v>
                </c:pt>
                <c:pt idx="3">
                  <c:v>90</c:v>
                </c:pt>
                <c:pt idx="4">
                  <c:v>35</c:v>
                </c:pt>
                <c:pt idx="5">
                  <c:v>12</c:v>
                </c:pt>
                <c:pt idx="6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C03-43AA-BA28-DF6B73F368D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Indian</c:v>
                </c:pt>
              </c:strCache>
            </c:strRef>
          </c:tx>
          <c:spPr>
            <a:solidFill>
              <a:srgbClr val="4AB870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Gauteng</c:v>
                </c:pt>
                <c:pt idx="1">
                  <c:v>W.Cape</c:v>
                </c:pt>
                <c:pt idx="2">
                  <c:v>KZN</c:v>
                </c:pt>
                <c:pt idx="3">
                  <c:v>E.Cape</c:v>
                </c:pt>
                <c:pt idx="4">
                  <c:v>Free St.</c:v>
                </c:pt>
                <c:pt idx="5">
                  <c:v>Limpopo</c:v>
                </c:pt>
                <c:pt idx="6">
                  <c:v>Mpumal.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110</c:v>
                </c:pt>
                <c:pt idx="1">
                  <c:v>60</c:v>
                </c:pt>
                <c:pt idx="2">
                  <c:v>180</c:v>
                </c:pt>
                <c:pt idx="3">
                  <c:v>30</c:v>
                </c:pt>
                <c:pt idx="4">
                  <c:v>18</c:v>
                </c:pt>
                <c:pt idx="5">
                  <c:v>15</c:v>
                </c:pt>
                <c:pt idx="6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C03-43AA-BA28-DF6B73F368D8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rgbClr val="9B7FD4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Gauteng</c:v>
                </c:pt>
                <c:pt idx="1">
                  <c:v>W.Cape</c:v>
                </c:pt>
                <c:pt idx="2">
                  <c:v>KZN</c:v>
                </c:pt>
                <c:pt idx="3">
                  <c:v>E.Cape</c:v>
                </c:pt>
                <c:pt idx="4">
                  <c:v>Free St.</c:v>
                </c:pt>
                <c:pt idx="5">
                  <c:v>Limpopo</c:v>
                </c:pt>
                <c:pt idx="6">
                  <c:v>Mpumal.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25</c:v>
                </c:pt>
                <c:pt idx="1">
                  <c:v>20</c:v>
                </c:pt>
                <c:pt idx="2">
                  <c:v>18</c:v>
                </c:pt>
                <c:pt idx="3">
                  <c:v>12</c:v>
                </c:pt>
                <c:pt idx="4">
                  <c:v>8</c:v>
                </c:pt>
                <c:pt idx="5">
                  <c:v>9</c:v>
                </c:pt>
                <c:pt idx="6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C03-43AA-BA28-DF6B73F368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AA5B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3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5B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730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9AA5B1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E2730"/>
    </a:solidFill>
    <a:ln w="6350" cap="flat">
      <a:solidFill>
        <a:srgbClr val="2A333D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5278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8074152" y="-1828800"/>
            <a:ext cx="5943600" cy="5943600"/>
          </a:xfrm>
          <a:prstGeom prst="ellipse">
            <a:avLst/>
          </a:prstGeom>
          <a:solidFill>
            <a:srgbClr val="D88A0F">
              <a:alpha val="25000"/>
            </a:srgbClr>
          </a:solidFill>
          <a:ln w="12700">
            <a:solidFill>
              <a:srgbClr val="0F141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9262872" y="-731520"/>
            <a:ext cx="3474720" cy="3474720"/>
          </a:xfrm>
          <a:prstGeom prst="ellipse">
            <a:avLst/>
          </a:prstGeom>
          <a:solidFill>
            <a:srgbClr val="F5A623">
              <a:alpha val="35000"/>
            </a:srgbClr>
          </a:solidFill>
          <a:ln w="12700">
            <a:solidFill>
              <a:srgbClr val="0F141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822960" y="640080"/>
            <a:ext cx="50292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822960" y="640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63040" y="7132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Viewership</a:t>
            </a:r>
            <a:endParaRPr lang="en-US" sz="5600" dirty="0"/>
          </a:p>
          <a:p>
            <a:pPr marL="0" indent="0">
              <a:buNone/>
            </a:pPr>
            <a:r>
              <a:rPr lang="en-US" sz="56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 2016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822960" y="4297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– </a:t>
            </a:r>
            <a:r>
              <a:rPr lang="en-US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</a:t>
            </a:r>
            <a:r>
              <a:rPr lang="en-US" sz="18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2016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484632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consolidated read on streams, audience composition, regional reach, and channel performance — prepared for the office of the Chief Executive.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A2128"/>
          </a:solidFill>
          <a:ln w="12700">
            <a:solidFill>
              <a:srgbClr val="1A212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822960" y="62910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822960" y="6473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Tankiso</a:t>
            </a:r>
            <a:r>
              <a:rPr lang="en-US" sz="11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Mosia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62910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572000" y="6473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Board only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0" y="62910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686800" y="64739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·  Final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A2128"/>
          </a:solidFill>
          <a:ln w="12700">
            <a:solidFill>
              <a:srgbClr val="1A212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411480" y="91440"/>
            <a:ext cx="256032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411480" y="914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914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 ·  CEO REPORT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74152" y="914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Executive Summary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headline numbers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months. Five million viewers. One clear momentum story.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2681478" cy="1463040"/>
          </a:xfrm>
          <a:prstGeom prst="roundRect">
            <a:avLst>
              <a:gd name="adj" fmla="val 5000"/>
            </a:avLst>
          </a:prstGeom>
          <a:solidFill>
            <a:srgbClr val="1E2730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640080" y="2240280"/>
            <a:ext cx="23157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STREAMS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2514600"/>
            <a:ext cx="23157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10K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40080" y="3182112"/>
            <a:ext cx="23157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B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12.4% vs prior period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21558" y="2103120"/>
            <a:ext cx="2681478" cy="1463040"/>
          </a:xfrm>
          <a:prstGeom prst="roundRect">
            <a:avLst>
              <a:gd name="adj" fmla="val 5000"/>
            </a:avLst>
          </a:prstGeom>
          <a:solidFill>
            <a:srgbClr val="1E2730"/>
          </a:solidFill>
          <a:ln w="9525">
            <a:solidFill>
              <a:srgbClr val="2A333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3504438" y="2240280"/>
            <a:ext cx="23157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VIEWERS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504438" y="2514600"/>
            <a:ext cx="23157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5.0M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504438" y="3182112"/>
            <a:ext cx="23157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B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8.7% vs prior period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85916" y="2103120"/>
            <a:ext cx="2681478" cy="1463040"/>
          </a:xfrm>
          <a:prstGeom prst="roundRect">
            <a:avLst>
              <a:gd name="adj" fmla="val 5000"/>
            </a:avLst>
          </a:prstGeom>
          <a:solidFill>
            <a:srgbClr val="1E2730"/>
          </a:solidFill>
          <a:ln w="9525">
            <a:solidFill>
              <a:srgbClr val="2A333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6368796" y="2240280"/>
            <a:ext cx="23157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WATCH TIME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368796" y="2514600"/>
            <a:ext cx="23157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30m 42s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368796" y="3182112"/>
            <a:ext cx="23157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B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3.2% vs prior period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050274" y="2103120"/>
            <a:ext cx="2681478" cy="1463040"/>
          </a:xfrm>
          <a:prstGeom prst="roundRect">
            <a:avLst>
              <a:gd name="adj" fmla="val 5000"/>
            </a:avLst>
          </a:prstGeom>
          <a:solidFill>
            <a:srgbClr val="1E2730"/>
          </a:solidFill>
          <a:ln w="9525">
            <a:solidFill>
              <a:srgbClr val="2A333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9233154" y="2240280"/>
            <a:ext cx="23157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CHANNEL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233154" y="2514600"/>
            <a:ext cx="23157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 News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9233154" y="3182112"/>
            <a:ext cx="23157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B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 leads regions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931920"/>
            <a:ext cx="11274552" cy="2377440"/>
          </a:xfrm>
          <a:prstGeom prst="roundRect">
            <a:avLst>
              <a:gd name="adj" fmla="val 3077"/>
            </a:avLst>
          </a:prstGeom>
          <a:solidFill>
            <a:srgbClr val="1E2730"/>
          </a:solidFill>
          <a:ln w="9525">
            <a:solidFill>
              <a:srgbClr val="2A333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731520" y="4114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THIS QUARTER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" y="4434840"/>
            <a:ext cx="10725912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grew streams 12.4%</a:t>
            </a: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a comparable basis, outpacing audience growth (+8.7%) — a sign that engagement per viewer is deepening, not just the top of the funnel widening.
</a:t>
            </a:r>
            <a:r>
              <a:rPr lang="en-US" sz="12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News remains the flagship</a:t>
            </a: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contributing 22% of all streams. Sports and Movies anchor the weekend tent-pole, while the 25–34 cohort drives the centre of gravity across every channel.
</a:t>
            </a:r>
            <a:r>
              <a:rPr lang="en-US" sz="12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priorities for the half ahead:</a:t>
            </a: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monetise the evening prime-time window more aggressively and diversify the regional mix beyond Gauteng + KZN.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274552" y="656539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A2128"/>
          </a:solidFill>
          <a:ln w="12700">
            <a:solidFill>
              <a:srgbClr val="1A212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411480" y="91440"/>
            <a:ext cx="256032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411480" y="914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914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 ·  CEO REPORT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74152" y="914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Audience Composition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WATCHING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Audience composition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25–34 cohort dominates volume; ethnic mix mirrors the South African population.</a:t>
            </a:r>
            <a:endParaRPr lang="en-US" sz="12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57200" y="2103120"/>
          <a:ext cx="56692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hart 1"/>
          <p:cNvGraphicFramePr/>
          <p:nvPr/>
        </p:nvGraphicFramePr>
        <p:xfrm>
          <a:off x="6309360" y="2103120"/>
          <a:ext cx="53949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Shape 9"/>
          <p:cNvSpPr/>
          <p:nvPr/>
        </p:nvSpPr>
        <p:spPr>
          <a:xfrm>
            <a:off x="457200" y="6263640"/>
            <a:ext cx="11274552" cy="365760"/>
          </a:xfrm>
          <a:prstGeom prst="roundRect">
            <a:avLst>
              <a:gd name="adj" fmla="val 12500"/>
            </a:avLst>
          </a:prstGeom>
          <a:solidFill>
            <a:srgbClr val="1A2128"/>
          </a:solidFill>
          <a:ln w="63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0"/>
          <p:cNvSpPr/>
          <p:nvPr/>
        </p:nvSpPr>
        <p:spPr>
          <a:xfrm>
            <a:off x="640080" y="62636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·  </a:t>
            </a:r>
            <a:r>
              <a:rPr lang="en-US" sz="10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25–34 delivers 35% of streams and the highest watch-time per session — index brand partnerships against this cohort.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1274552" y="656539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A2128"/>
          </a:solidFill>
          <a:ln w="12700">
            <a:solidFill>
              <a:srgbClr val="1A212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411480" y="91440"/>
            <a:ext cx="256032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411480" y="914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914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 ·  CEO REPORT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74152" y="914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Channel Performance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WATCH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Channel performance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News leads on volume; daypart mix reveals where each channel earns its prime moment.</a:t>
            </a:r>
            <a:endParaRPr lang="en-US" sz="12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57200" y="2103120"/>
          <a:ext cx="47548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hart 1"/>
          <p:cNvGraphicFramePr/>
          <p:nvPr/>
        </p:nvGraphicFramePr>
        <p:xfrm>
          <a:off x="5394960" y="2103120"/>
          <a:ext cx="63093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Shape 9"/>
          <p:cNvSpPr/>
          <p:nvPr/>
        </p:nvSpPr>
        <p:spPr>
          <a:xfrm>
            <a:off x="457200" y="6199632"/>
            <a:ext cx="11274552" cy="411480"/>
          </a:xfrm>
          <a:prstGeom prst="roundRect">
            <a:avLst>
              <a:gd name="adj" fmla="val 11111"/>
            </a:avLst>
          </a:prstGeom>
          <a:solidFill>
            <a:srgbClr val="1A2128"/>
          </a:solidFill>
          <a:ln w="63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0"/>
          <p:cNvSpPr/>
          <p:nvPr/>
        </p:nvSpPr>
        <p:spPr>
          <a:xfrm>
            <a:off x="640080" y="6199632"/>
            <a:ext cx="10908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·  </a:t>
            </a:r>
            <a:r>
              <a:rPr lang="en-US" sz="9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(18:00–22:00) is the most valuable window — 41% of weekly streams. Premium ad inventory here is the clearest near-term revenue lever.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74552" y="656539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A2128"/>
          </a:solidFill>
          <a:ln w="12700">
            <a:solidFill>
              <a:srgbClr val="1A212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411480" y="91440"/>
            <a:ext cx="256032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411480" y="914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914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 ·  CEO REPORT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74152" y="914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Temporal Patterns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THEY WATCH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rhythm of the week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Weekends surge across every segment; monthly demand has compounded steadily into Q2.</a:t>
            </a:r>
            <a:endParaRPr lang="en-US" sz="12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57200" y="2103120"/>
          <a:ext cx="56692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hart 1"/>
          <p:cNvGraphicFramePr/>
          <p:nvPr/>
        </p:nvGraphicFramePr>
        <p:xfrm>
          <a:off x="6309360" y="2103120"/>
          <a:ext cx="53949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Shape 9"/>
          <p:cNvSpPr/>
          <p:nvPr/>
        </p:nvSpPr>
        <p:spPr>
          <a:xfrm>
            <a:off x="457200" y="6263640"/>
            <a:ext cx="11274552" cy="365760"/>
          </a:xfrm>
          <a:prstGeom prst="roundRect">
            <a:avLst>
              <a:gd name="adj" fmla="val 12500"/>
            </a:avLst>
          </a:prstGeom>
          <a:solidFill>
            <a:srgbClr val="1A2128"/>
          </a:solidFill>
          <a:ln w="63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0"/>
          <p:cNvSpPr/>
          <p:nvPr/>
        </p:nvSpPr>
        <p:spPr>
          <a:xfrm>
            <a:off x="640080" y="62636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·  </a:t>
            </a:r>
            <a:r>
              <a:rPr lang="en-US" sz="10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viewership runs 53% above the Monday baseline. Front-load tent-pole programming into Sat–Sun to maximise reach.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1274552" y="656539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A2128"/>
          </a:solidFill>
          <a:ln w="12700">
            <a:solidFill>
              <a:srgbClr val="1A212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411480" y="91440"/>
            <a:ext cx="256032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411480" y="914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914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 ·  CEO REPORT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74152" y="914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Geographic Footprint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WATCH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Geographic footprint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 and KZN anchor the audience; Western Cape over-indexes on watch-time per viewer.</a:t>
            </a:r>
            <a:endParaRPr lang="en-US" sz="12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57200" y="2103120"/>
          <a:ext cx="56692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hart 1"/>
          <p:cNvGraphicFramePr/>
          <p:nvPr/>
        </p:nvGraphicFramePr>
        <p:xfrm>
          <a:off x="6309360" y="2103120"/>
          <a:ext cx="53949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Shape 9"/>
          <p:cNvSpPr/>
          <p:nvPr/>
        </p:nvSpPr>
        <p:spPr>
          <a:xfrm>
            <a:off x="457200" y="6263640"/>
            <a:ext cx="11274552" cy="365760"/>
          </a:xfrm>
          <a:prstGeom prst="roundRect">
            <a:avLst>
              <a:gd name="adj" fmla="val 12500"/>
            </a:avLst>
          </a:prstGeom>
          <a:solidFill>
            <a:srgbClr val="1A2128"/>
          </a:solidFill>
          <a:ln w="63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0"/>
          <p:cNvSpPr/>
          <p:nvPr/>
        </p:nvSpPr>
        <p:spPr>
          <a:xfrm>
            <a:off x="640080" y="62636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·  </a:t>
            </a:r>
            <a:r>
              <a:rPr lang="en-US" sz="10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 + KZN deliver 58% of streams. A targeted Western Cape acquisition campaign would diversify the regional mix and de-risk regional ad sales.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1274552" y="656539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A2128"/>
          </a:solidFill>
          <a:ln w="12700">
            <a:solidFill>
              <a:srgbClr val="1A212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411480" y="91440"/>
            <a:ext cx="256032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411480" y="914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914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 ·  CEO REPORT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74152" y="914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Strategic Recommendations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CEO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do next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moves the data supports — sequenced for the next two quarters.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5522976" cy="1828800"/>
          </a:xfrm>
          <a:prstGeom prst="roundRect">
            <a:avLst>
              <a:gd name="adj" fmla="val 4000"/>
            </a:avLst>
          </a:prstGeom>
          <a:solidFill>
            <a:srgbClr val="1E2730"/>
          </a:solidFill>
          <a:ln w="9525">
            <a:solidFill>
              <a:srgbClr val="2A333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73152" cy="1828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731520" y="22860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334256" y="23774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31520" y="2788920"/>
            <a:ext cx="5065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Monetise prime-time aggressively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3246120"/>
            <a:ext cx="5065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(18:00–22:00) accounts for 41% of streams. Re-price premium ad inventory in this window and bundle it with sponsored programming.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08776" y="2103120"/>
            <a:ext cx="5522976" cy="1828800"/>
          </a:xfrm>
          <a:prstGeom prst="roundRect">
            <a:avLst>
              <a:gd name="adj" fmla="val 4000"/>
            </a:avLst>
          </a:prstGeom>
          <a:solidFill>
            <a:srgbClr val="1E2730"/>
          </a:solidFill>
          <a:ln w="9525">
            <a:solidFill>
              <a:srgbClr val="2A333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6208776" y="2103120"/>
            <a:ext cx="73152" cy="1828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6483096" y="22860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0085832" y="23774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83096" y="2788920"/>
            <a:ext cx="5065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Front-load weekend tent-poles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83096" y="3246120"/>
            <a:ext cx="5065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viewership is 53% above the Monday baseline. Schedule flagship Sports and Movies releases on Friday night and Saturday prime-time.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5522976" cy="1828800"/>
          </a:xfrm>
          <a:prstGeom prst="roundRect">
            <a:avLst>
              <a:gd name="adj" fmla="val 4000"/>
            </a:avLst>
          </a:prstGeom>
          <a:solidFill>
            <a:srgbClr val="1E2730"/>
          </a:solidFill>
          <a:ln w="9525">
            <a:solidFill>
              <a:srgbClr val="2A333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Shape 22"/>
          <p:cNvSpPr/>
          <p:nvPr/>
        </p:nvSpPr>
        <p:spPr>
          <a:xfrm>
            <a:off x="457200" y="4160520"/>
            <a:ext cx="73152" cy="1828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731520" y="43434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334256" y="4434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31520" y="4846320"/>
            <a:ext cx="5065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Index partnerships against 25–34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1520" y="5303520"/>
            <a:ext cx="5065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25–34 cohort delivers 35% of all streams and the highest watch-time. Use this for brand-partnership pitches and lifestyle collaborations.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08776" y="4160520"/>
            <a:ext cx="5522976" cy="1828800"/>
          </a:xfrm>
          <a:prstGeom prst="roundRect">
            <a:avLst>
              <a:gd name="adj" fmla="val 4000"/>
            </a:avLst>
          </a:prstGeom>
          <a:solidFill>
            <a:srgbClr val="1E2730"/>
          </a:solidFill>
          <a:ln w="9525">
            <a:solidFill>
              <a:srgbClr val="2A333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Shape 28"/>
          <p:cNvSpPr/>
          <p:nvPr/>
        </p:nvSpPr>
        <p:spPr>
          <a:xfrm>
            <a:off x="6208776" y="4160520"/>
            <a:ext cx="73152" cy="1828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/>
          <p:nvPr/>
        </p:nvSpPr>
        <p:spPr>
          <a:xfrm>
            <a:off x="6483096" y="43434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10085832" y="4434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83096" y="4846320"/>
            <a:ext cx="5065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Diversify beyond Gauteng + KZN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83096" y="5303520"/>
            <a:ext cx="5065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provinces account for 58% of streams. Run a targeted Western Cape acquisition campaign in H2 to de-risk regional ad sales.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274552" y="656539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672</Words>
  <Application>Microsoft Office PowerPoint</Application>
  <PresentationFormat>Widescreen</PresentationFormat>
  <Paragraphs>118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Bright TV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 TV — CEO Viewership Report</dc:title>
  <dc:subject>PptxGenJS Presentation</dc:subject>
  <dc:creator>Bright TV Insights</dc:creator>
  <cp:lastModifiedBy>Mosia, Tankiso T</cp:lastModifiedBy>
  <cp:revision>2</cp:revision>
  <dcterms:created xsi:type="dcterms:W3CDTF">2026-04-19T19:35:44Z</dcterms:created>
  <dcterms:modified xsi:type="dcterms:W3CDTF">2026-04-19T20:00:07Z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27a3850-2850-457c-8efb-fdd5fa4d27d3_Enabled">
    <vt:lpwstr>true</vt:lpwstr>
  </property>
  <property fmtid="{D5CDD505-2E9C-101B-9397-08002B2CF9AE}" pid="3" name="MSIP_Label_027a3850-2850-457c-8efb-fdd5fa4d27d3_SetDate">
    <vt:lpwstr>2026-04-19T20:00:07Z</vt:lpwstr>
  </property>
  <property fmtid="{D5CDD505-2E9C-101B-9397-08002B2CF9AE}" pid="4" name="MSIP_Label_027a3850-2850-457c-8efb-fdd5fa4d27d3_Method">
    <vt:lpwstr>Standard</vt:lpwstr>
  </property>
  <property fmtid="{D5CDD505-2E9C-101B-9397-08002B2CF9AE}" pid="5" name="MSIP_Label_027a3850-2850-457c-8efb-fdd5fa4d27d3_Name">
    <vt:lpwstr>027a3850-2850-457c-8efb-fdd5fa4d27d3</vt:lpwstr>
  </property>
  <property fmtid="{D5CDD505-2E9C-101B-9397-08002B2CF9AE}" pid="6" name="MSIP_Label_027a3850-2850-457c-8efb-fdd5fa4d27d3_SiteId">
    <vt:lpwstr>7369e6ec-faa6-42fa-bc0e-4f332da5b1db</vt:lpwstr>
  </property>
  <property fmtid="{D5CDD505-2E9C-101B-9397-08002B2CF9AE}" pid="7" name="MSIP_Label_027a3850-2850-457c-8efb-fdd5fa4d27d3_ActionId">
    <vt:lpwstr>e6495806-e4e0-4708-8f60-869bdc4a7296</vt:lpwstr>
  </property>
  <property fmtid="{D5CDD505-2E9C-101B-9397-08002B2CF9AE}" pid="8" name="MSIP_Label_027a3850-2850-457c-8efb-fdd5fa4d27d3_ContentBits">
    <vt:lpwstr>0</vt:lpwstr>
  </property>
  <property fmtid="{D5CDD505-2E9C-101B-9397-08002B2CF9AE}" pid="9" name="MSIP_Label_027a3850-2850-457c-8efb-fdd5fa4d27d3_Tag">
    <vt:lpwstr>10, 3, 0, 1</vt:lpwstr>
  </property>
</Properties>
</file>